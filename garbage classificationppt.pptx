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4" r:id="rId6"/>
    <p:sldId id="266" r:id="rId7"/>
    <p:sldId id="260" r:id="rId8"/>
    <p:sldId id="265" r:id="rId9"/>
    <p:sldId id="261" r:id="rId10"/>
    <p:sldId id="263" r:id="rId11"/>
    <p:sldId id="267" r:id="rId12"/>
    <p:sldId id="262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-974" y="-341"/>
      </p:cViewPr>
      <p:guideLst>
        <p:guide orient="horz" pos="792"/>
        <p:guide orient="horz" pos="1080"/>
        <p:guide pos="1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Ref idx="1003">
        <a:schemeClr val="bg2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xmlns="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xmlns="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xmlns="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xmlns="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xmlns="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23692" y="2189284"/>
            <a:ext cx="6295293" cy="336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6712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3544820" cy="40011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</a:t>
            </a:r>
            <a:r>
              <a:rPr lang="en-IN" sz="2000" b="1" dirty="0" smtClean="0">
                <a:solidFill>
                  <a:srgbClr val="213163"/>
                </a:solidFill>
              </a:rPr>
              <a:t>Objectives: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xmlns="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846320" cy="4165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C264928-EACB-4739-BDDA-6799C99356F3}"/>
              </a:ext>
            </a:extLst>
          </p:cNvPr>
          <p:cNvSpPr txBox="1"/>
          <p:nvPr/>
        </p:nvSpPr>
        <p:spPr>
          <a:xfrm>
            <a:off x="9032240" y="3168609"/>
            <a:ext cx="189992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 smtClean="0">
                <a:solidFill>
                  <a:schemeClr val="tx1"/>
                </a:solidFill>
                <a:latin typeface="+mn-lt"/>
              </a:rPr>
              <a:t>GOAL</a:t>
            </a:r>
            <a:endParaRPr lang="en-IN" sz="35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48409" y="1969477"/>
            <a:ext cx="8757137" cy="468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🌱 </a:t>
            </a:r>
            <a:r>
              <a:rPr lang="en-US" sz="1600" b="1" dirty="0" smtClean="0"/>
              <a:t>Understand the importance of garbage classification in real-world waste management.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🚀 </a:t>
            </a:r>
            <a:r>
              <a:rPr lang="en-US" sz="1600" b="1" dirty="0" smtClean="0"/>
              <a:t>Apply Transfer Learning using pre-trained CNN models (like MobileNetV2 or ResNet50) to classify waste images into 6 categories</a:t>
            </a:r>
            <a:r>
              <a:rPr lang="en-US" sz="1600" dirty="0" smtClean="0"/>
              <a:t> – cardboard, glass, metal, paper, plastic, and trash.</a:t>
            </a:r>
            <a:br>
              <a:rPr lang="en-US" sz="1600" dirty="0" smtClean="0"/>
            </a:br>
            <a:r>
              <a:rPr lang="en-US" sz="1600" dirty="0" smtClean="0"/>
              <a:t>🔄 </a:t>
            </a:r>
            <a:r>
              <a:rPr lang="en-US" sz="1600" b="1" dirty="0" smtClean="0"/>
              <a:t>Learn how to preprocess image data for computer vision tasks using </a:t>
            </a:r>
            <a:r>
              <a:rPr lang="en-US" sz="1600" b="1" dirty="0" err="1" smtClean="0"/>
              <a:t>TensorFlow</a:t>
            </a:r>
            <a:r>
              <a:rPr lang="en-US" sz="1600" b="1" dirty="0" smtClean="0"/>
              <a:t> and </a:t>
            </a:r>
            <a:r>
              <a:rPr lang="en-US" sz="1600" b="1" dirty="0" err="1" smtClean="0"/>
              <a:t>Keras</a:t>
            </a:r>
            <a:r>
              <a:rPr lang="en-US" sz="1600" b="1" dirty="0" smtClean="0"/>
              <a:t>.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🧠 </a:t>
            </a:r>
            <a:r>
              <a:rPr lang="en-US" sz="1600" b="1" dirty="0" smtClean="0"/>
              <a:t>Explore the benefits of using Transfer Learning to reduce training time and increase accuracy with limited data.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📊 </a:t>
            </a:r>
            <a:r>
              <a:rPr lang="en-US" sz="1600" b="1" dirty="0" smtClean="0"/>
              <a:t>Evaluate model performance using metrics like accuracy, loss, and confusion matrix.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🎯 </a:t>
            </a:r>
            <a:r>
              <a:rPr lang="en-US" sz="1600" b="1" dirty="0" smtClean="0"/>
              <a:t>Deploy the trained model in a user-friendly web interface using </a:t>
            </a:r>
            <a:r>
              <a:rPr lang="en-US" sz="1600" b="1" dirty="0" err="1" smtClean="0"/>
              <a:t>Gradio</a:t>
            </a:r>
            <a:r>
              <a:rPr lang="en-US" sz="1600" b="1" dirty="0" smtClean="0"/>
              <a:t>.</a:t>
            </a:r>
          </a:p>
          <a:p>
            <a:endParaRPr lang="en-US" sz="1600" b="1" dirty="0" smtClean="0"/>
          </a:p>
          <a:p>
            <a:r>
              <a:rPr lang="en-US" sz="1600" b="1" dirty="0" smtClean="0">
                <a:solidFill>
                  <a:schemeClr val="accent5"/>
                </a:solidFill>
              </a:rPr>
              <a:t>GOAL: </a:t>
            </a:r>
            <a:r>
              <a:rPr lang="en-US" sz="1600" b="1" dirty="0" smtClean="0"/>
              <a:t>To develop an accurate and efficient garbage classification model using EfficientNetV2B2 and transfer learning for automated waste sorting.</a:t>
            </a:r>
          </a:p>
          <a:p>
            <a:r>
              <a:rPr lang="en-US" sz="1600" dirty="0" smtClean="0"/>
              <a:t/>
            </a:r>
            <a:br>
              <a:rPr lang="en-US" sz="1600" dirty="0" smtClean="0"/>
            </a:br>
            <a:endParaRPr lang="en-US" sz="1600" dirty="0" smtClean="0"/>
          </a:p>
          <a:p>
            <a:endParaRPr lang="en-US" sz="16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3205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5200" y="1873680"/>
            <a:ext cx="6929120" cy="2678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This project leverages a suite of modern tools and frameworks:</a:t>
            </a:r>
          </a:p>
          <a:p>
            <a:r>
              <a:rPr lang="en-US" b="1" dirty="0" smtClean="0"/>
              <a:t>Programming Language</a:t>
            </a:r>
            <a:r>
              <a:rPr lang="en-US" dirty="0" smtClean="0"/>
              <a:t>: Python</a:t>
            </a:r>
          </a:p>
          <a:p>
            <a:r>
              <a:rPr lang="en-US" b="1" dirty="0" smtClean="0"/>
              <a:t>Deep Learning Frameworks</a:t>
            </a:r>
            <a:r>
              <a:rPr lang="en-US" dirty="0" smtClean="0"/>
              <a:t>: </a:t>
            </a:r>
            <a:r>
              <a:rPr lang="en-US" dirty="0" err="1" smtClean="0"/>
              <a:t>TensorFlow</a:t>
            </a:r>
            <a:r>
              <a:rPr lang="en-US" dirty="0" smtClean="0"/>
              <a:t>, </a:t>
            </a:r>
            <a:r>
              <a:rPr lang="en-US" dirty="0" err="1" smtClean="0"/>
              <a:t>Keras</a:t>
            </a:r>
            <a:endParaRPr lang="en-US" dirty="0" smtClean="0"/>
          </a:p>
          <a:p>
            <a:r>
              <a:rPr lang="en-US" b="1" dirty="0" smtClean="0"/>
              <a:t>Model Architecture</a:t>
            </a:r>
            <a:r>
              <a:rPr lang="en-US" dirty="0" smtClean="0"/>
              <a:t>: EfficientNetV2B2 (</a:t>
            </a:r>
            <a:r>
              <a:rPr lang="en-US" dirty="0" err="1" smtClean="0"/>
              <a:t>Pretrained</a:t>
            </a:r>
            <a:r>
              <a:rPr lang="en-US" dirty="0" smtClean="0"/>
              <a:t> on </a:t>
            </a:r>
            <a:r>
              <a:rPr lang="en-US" dirty="0" err="1" smtClean="0"/>
              <a:t>ImageNet</a:t>
            </a:r>
            <a:r>
              <a:rPr lang="en-US" dirty="0" smtClean="0"/>
              <a:t>)</a:t>
            </a:r>
          </a:p>
          <a:p>
            <a:r>
              <a:rPr lang="en-US" b="1" dirty="0" smtClean="0"/>
              <a:t>Development Environment</a:t>
            </a:r>
            <a:r>
              <a:rPr lang="en-US" dirty="0" smtClean="0"/>
              <a:t>: Google </a:t>
            </a:r>
            <a:r>
              <a:rPr lang="en-US" dirty="0" err="1" smtClean="0"/>
              <a:t>Colab</a:t>
            </a:r>
            <a:r>
              <a:rPr lang="en-US" dirty="0" smtClean="0"/>
              <a:t> / </a:t>
            </a:r>
            <a:r>
              <a:rPr lang="en-US" dirty="0" err="1" smtClean="0"/>
              <a:t>Jupyter</a:t>
            </a:r>
            <a:r>
              <a:rPr lang="en-US" dirty="0" smtClean="0"/>
              <a:t> Notebook</a:t>
            </a:r>
          </a:p>
          <a:p>
            <a:r>
              <a:rPr lang="en-US" b="1" dirty="0" smtClean="0"/>
              <a:t>Libraries</a:t>
            </a:r>
            <a:r>
              <a:rPr lang="en-US" dirty="0" smtClean="0"/>
              <a:t>: </a:t>
            </a:r>
            <a:r>
              <a:rPr lang="en-US" dirty="0" err="1" smtClean="0"/>
              <a:t>NumPy</a:t>
            </a:r>
            <a:r>
              <a:rPr lang="en-US" dirty="0" smtClean="0"/>
              <a:t>, Pandas, </a:t>
            </a:r>
            <a:r>
              <a:rPr lang="en-US" dirty="0" err="1" smtClean="0"/>
              <a:t>Matplotlib</a:t>
            </a:r>
            <a:r>
              <a:rPr lang="en-US" dirty="0" smtClean="0"/>
              <a:t>, </a:t>
            </a:r>
            <a:r>
              <a:rPr lang="en-US" dirty="0" err="1" smtClean="0"/>
              <a:t>scikit</a:t>
            </a:r>
            <a:r>
              <a:rPr lang="en-US" dirty="0" smtClean="0"/>
              <a:t>-learn</a:t>
            </a:r>
          </a:p>
          <a:p>
            <a:r>
              <a:rPr lang="en-US" b="1" dirty="0" smtClean="0"/>
              <a:t>Hardware Acceleration</a:t>
            </a:r>
            <a:r>
              <a:rPr lang="en-US" dirty="0" smtClean="0"/>
              <a:t>: GPU-enabled runtime</a:t>
            </a:r>
          </a:p>
          <a:p>
            <a:r>
              <a:rPr lang="en-US" b="1" dirty="0" smtClean="0"/>
              <a:t>Dataset</a:t>
            </a:r>
            <a:r>
              <a:rPr lang="en-US" dirty="0" smtClean="0"/>
              <a:t>: Garbage classification dataset with six classes</a:t>
            </a:r>
            <a:endParaRPr lang="en-US" dirty="0"/>
          </a:p>
        </p:txBody>
      </p:sp>
      <p:pic>
        <p:nvPicPr>
          <p:cNvPr id="6146" name="Picture 2" descr="https://png.pngtree.com/png-clipart/20230914/original/pngtree-information-technology-vector-png-image_12148128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71280" y="894080"/>
            <a:ext cx="2966720" cy="52730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5645712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pic>
        <p:nvPicPr>
          <p:cNvPr id="5122" name="Picture 2" descr="https://www.shutterstock.com/shutterstock/photos/1722557548/display_1500/stock-vector-methodology-icon-development-modeling-icon-172255754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16720" y="934720"/>
            <a:ext cx="2387600" cy="5923280"/>
          </a:xfrm>
          <a:prstGeom prst="rect">
            <a:avLst/>
          </a:prstGeom>
          <a:noFill/>
        </p:spPr>
      </p:pic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-5309134"/>
            <a:ext cx="9433993" cy="1061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Data Acquisition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: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Curated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dataset containing labeled images across six categories: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Cardboard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Plastic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Paper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Trash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Glass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and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Metal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Data Preprocessing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Resizing, normalization, and augmentation to enhance model generalization.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Model Development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Employed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EfficientNetV2B2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with transfer learning to utilize pre-trained feature extractors.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Training Strategy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Fine-tuning with class weighting to mitigate class imbalance.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Evaluation &amp; Visualization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Monitored accuracy, loss, and confusion matrix for performance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0679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s://c8.alamy.com/comp/2J9K65G/garbage-recycle-bins-set-vector-illustrations-of-trash-containers-classification-cartoon-collection-of-plastic-glass-metal-organic-paper-trash-for-d-2J9K65G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94080"/>
            <a:ext cx="12192000" cy="57708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s://d112y698adiu2z.cloudfront.net/photos/production/software_photos/002/234/650/datas/origina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06659" y="1148079"/>
            <a:ext cx="4585315" cy="4155441"/>
          </a:xfrm>
          <a:prstGeom prst="rect">
            <a:avLst/>
          </a:prstGeom>
          <a:noFill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020" y="1036955"/>
            <a:ext cx="4343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314960" y="-5586133"/>
            <a:ext cx="6929120" cy="111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Cardboard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Corrugated boxes, brown paperboard, packing material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Plastic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Bottles, containers, wrappers, synthetic packaging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Paper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Newspapers, office paper, magazines, notebooks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Trash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Non-recyclable waste, dirty items, food-soiled materials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Glass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Bottles, jars, broken glass, transparent containers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Metal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Aluminum cans, tin containers, metal scraps, foil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solidFill>
            <a:srgbClr val="FFC000"/>
          </a:solidFill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63840" y="959169"/>
            <a:ext cx="3413760" cy="1042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06080" y="2153920"/>
            <a:ext cx="3545840" cy="4175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619760" y="1950720"/>
            <a:ext cx="6888480" cy="4114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 the era of environmental challenges, efficient waste management has become crucial. Manual segregation is time-consuming and prone to error.</a:t>
            </a:r>
          </a:p>
          <a:p>
            <a:r>
              <a:rPr lang="en-US" dirty="0" smtClean="0"/>
              <a:t>This project aims to build an </a:t>
            </a:r>
            <a:r>
              <a:rPr lang="en-US" b="1" dirty="0" smtClean="0"/>
              <a:t>intelligent garbage classification system</a:t>
            </a:r>
            <a:r>
              <a:rPr lang="en-US" dirty="0" smtClean="0"/>
              <a:t> using </a:t>
            </a:r>
            <a:r>
              <a:rPr lang="en-US" b="1" dirty="0" smtClean="0"/>
              <a:t>EfficientNetV2B2</a:t>
            </a:r>
            <a:r>
              <a:rPr lang="en-US" dirty="0" smtClean="0"/>
              <a:t>, a high-performance </a:t>
            </a:r>
            <a:r>
              <a:rPr lang="en-US" dirty="0" err="1" smtClean="0"/>
              <a:t>convolutional</a:t>
            </a:r>
            <a:r>
              <a:rPr lang="en-US" dirty="0" smtClean="0"/>
              <a:t> neural network, to automate waste sorting processes.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60400" y="1706880"/>
            <a:ext cx="6350000" cy="2103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In this project, we aim to develop a sophisticated </a:t>
            </a:r>
            <a:r>
              <a:rPr lang="en-US" b="1" dirty="0" smtClean="0"/>
              <a:t>**garbage classification system**</a:t>
            </a:r>
            <a:r>
              <a:rPr lang="en-US" dirty="0" smtClean="0"/>
              <a:t> leveraging the </a:t>
            </a:r>
            <a:r>
              <a:rPr lang="en-US" b="1" dirty="0" smtClean="0"/>
              <a:t>**EfficientNetV2B2**</a:t>
            </a:r>
            <a:r>
              <a:rPr lang="en-US" dirty="0" smtClean="0"/>
              <a:t> architecture. Our primary dataset serves as a foundation for building models that can eventually automate waste segregation, a critical step in optimizing recycling and waste management, ultimately aiding in environmental conservation.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96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26400" y="1270000"/>
            <a:ext cx="3789680" cy="55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670560" y="955040"/>
            <a:ext cx="7284720" cy="7850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✅ Goal</a:t>
            </a:r>
          </a:p>
          <a:p>
            <a:r>
              <a:rPr lang="en-US" dirty="0" smtClean="0"/>
              <a:t>To design and implement a robust image classification model that:</a:t>
            </a:r>
          </a:p>
          <a:p>
            <a:r>
              <a:rPr lang="en-US" dirty="0" smtClean="0"/>
              <a:t>Accurately distinguishes between different types of waste.</a:t>
            </a:r>
          </a:p>
          <a:p>
            <a:r>
              <a:rPr lang="en-US" dirty="0" smtClean="0"/>
              <a:t>Leverages </a:t>
            </a:r>
            <a:r>
              <a:rPr lang="en-US" b="1" dirty="0" smtClean="0"/>
              <a:t>transfer learning</a:t>
            </a:r>
            <a:r>
              <a:rPr lang="en-US" dirty="0" smtClean="0"/>
              <a:t> for improved accuracy and reduced training time.</a:t>
            </a:r>
          </a:p>
          <a:p>
            <a:r>
              <a:rPr lang="en-US" dirty="0" smtClean="0"/>
              <a:t>Can serve as a foundational component in smart recycling and automated waste segregation systems.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✅ Challenges &amp; Scope</a:t>
            </a:r>
          </a:p>
          <a:p>
            <a:r>
              <a:rPr lang="en-US" b="1" dirty="0" smtClean="0"/>
              <a:t>Class Imbalance</a:t>
            </a:r>
            <a:r>
              <a:rPr lang="en-US" dirty="0" smtClean="0"/>
              <a:t>: Uneven distribution of sample images across categories.</a:t>
            </a:r>
          </a:p>
          <a:p>
            <a:r>
              <a:rPr lang="en-US" b="1" dirty="0" smtClean="0"/>
              <a:t>Visual Similarity</a:t>
            </a:r>
            <a:r>
              <a:rPr lang="en-US" dirty="0" smtClean="0"/>
              <a:t>: Some classes (e.g., cardboard vs. paper) have overlapping features.</a:t>
            </a:r>
          </a:p>
          <a:p>
            <a:r>
              <a:rPr lang="en-US" b="1" dirty="0" smtClean="0"/>
              <a:t>Real-world Applicability</a:t>
            </a:r>
            <a:r>
              <a:rPr lang="en-US" dirty="0" smtClean="0"/>
              <a:t>: Ensuring the model generalizes well to new data.</a:t>
            </a:r>
          </a:p>
          <a:p>
            <a:r>
              <a:rPr lang="en-US" b="1" dirty="0" smtClean="0"/>
              <a:t>Scalability</a:t>
            </a:r>
            <a:r>
              <a:rPr lang="en-US" dirty="0" smtClean="0"/>
              <a:t>: Potential integration into smart bins or mobile apps.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solidFill>
            <a:srgbClr val="FFC000"/>
          </a:solidFill>
          <a:effectLst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97520" y="1666240"/>
            <a:ext cx="4094480" cy="41554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Rectangle 3"/>
          <p:cNvSpPr/>
          <p:nvPr/>
        </p:nvSpPr>
        <p:spPr>
          <a:xfrm>
            <a:off x="568960" y="1658900"/>
            <a:ext cx="6827520" cy="3540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Our solution integrates deep learning and transfer learning to address the problem effectively:</a:t>
            </a:r>
          </a:p>
          <a:p>
            <a:r>
              <a:rPr lang="en-US" dirty="0" smtClean="0"/>
              <a:t>Utilized </a:t>
            </a:r>
            <a:r>
              <a:rPr lang="en-US" b="1" dirty="0" smtClean="0"/>
              <a:t>EfficientNetV2B2</a:t>
            </a:r>
            <a:r>
              <a:rPr lang="en-US" dirty="0" smtClean="0"/>
              <a:t>, </a:t>
            </a:r>
            <a:r>
              <a:rPr lang="en-US" dirty="0" err="1" smtClean="0"/>
              <a:t>pretrained</a:t>
            </a:r>
            <a:r>
              <a:rPr lang="en-US" dirty="0" smtClean="0"/>
              <a:t> on </a:t>
            </a:r>
            <a:r>
              <a:rPr lang="en-US" dirty="0" err="1" smtClean="0"/>
              <a:t>ImageNet</a:t>
            </a:r>
            <a:r>
              <a:rPr lang="en-US" dirty="0" smtClean="0"/>
              <a:t>, as the base model.</a:t>
            </a:r>
          </a:p>
          <a:p>
            <a:r>
              <a:rPr lang="en-US" dirty="0" smtClean="0"/>
              <a:t>Added custom classification layers suited for our dataset.</a:t>
            </a:r>
          </a:p>
          <a:p>
            <a:r>
              <a:rPr lang="en-US" dirty="0" smtClean="0"/>
              <a:t>Employed </a:t>
            </a:r>
            <a:r>
              <a:rPr lang="en-US" b="1" dirty="0" smtClean="0"/>
              <a:t>data augmentation</a:t>
            </a:r>
            <a:r>
              <a:rPr lang="en-US" dirty="0" smtClean="0"/>
              <a:t> to synthetically balance the dataset.</a:t>
            </a:r>
          </a:p>
          <a:p>
            <a:r>
              <a:rPr lang="en-US" dirty="0" smtClean="0"/>
              <a:t>Implemented </a:t>
            </a:r>
            <a:r>
              <a:rPr lang="en-US" b="1" dirty="0" smtClean="0"/>
              <a:t>class weighting</a:t>
            </a:r>
            <a:r>
              <a:rPr lang="en-US" dirty="0" smtClean="0"/>
              <a:t> during training to mitigate skewed class representation.</a:t>
            </a:r>
          </a:p>
          <a:p>
            <a:r>
              <a:rPr lang="en-US" dirty="0" smtClean="0"/>
              <a:t>Achieved high model performance with minimal computational cost and training time.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0296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6560" y="1727200"/>
            <a:ext cx="5547360" cy="3942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39618" y="1747520"/>
            <a:ext cx="6152382" cy="3891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3594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560" y="822960"/>
            <a:ext cx="10149839" cy="5506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solidFill>
            <a:srgbClr val="FFC000"/>
          </a:solidFill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42720" y="1805363"/>
            <a:ext cx="9083040" cy="347787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 smtClean="0"/>
              <a:t>This project demonstrates the successful implementation of an </a:t>
            </a:r>
            <a:r>
              <a:rPr lang="en-US" sz="2000" b="1" dirty="0" smtClean="0"/>
              <a:t>AI-powered garbage classification system</a:t>
            </a:r>
            <a:r>
              <a:rPr lang="en-US" sz="2000" dirty="0" smtClean="0"/>
              <a:t> using state-of-the-art deep learning techniques.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 smtClean="0"/>
              <a:t>Key takeaways: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 smtClean="0"/>
              <a:t>Transfer learning significantly accelerates development and improves accuracy.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 smtClean="0"/>
              <a:t>EfficientNetV2B2 offers a balance of speed and precision for classification tasks.</a:t>
            </a:r>
          </a:p>
          <a:p>
            <a:pPr>
              <a:buFont typeface="Wingdings" pitchFamily="2" charset="2"/>
              <a:buChar char="v"/>
            </a:pPr>
            <a:r>
              <a:rPr lang="en-US" sz="2000" dirty="0" smtClean="0"/>
              <a:t>Such models can be deployed in real-world applications for </a:t>
            </a:r>
            <a:r>
              <a:rPr lang="en-US" sz="2000" b="1" dirty="0" smtClean="0"/>
              <a:t>automated recycling</a:t>
            </a:r>
            <a:r>
              <a:rPr lang="en-US" sz="2000" dirty="0" smtClean="0"/>
              <a:t>, contributing to </a:t>
            </a:r>
            <a:r>
              <a:rPr lang="en-US" sz="2000" b="1" dirty="0" smtClean="0"/>
              <a:t>environmental sustainability</a:t>
            </a:r>
            <a:r>
              <a:rPr lang="en-US" sz="2000" dirty="0" smtClean="0"/>
              <a:t> and </a:t>
            </a:r>
            <a:r>
              <a:rPr lang="en-US" sz="2000" b="1" dirty="0" smtClean="0"/>
              <a:t>smart city development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15198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8081" y="731520"/>
            <a:ext cx="6905308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 descr="C:\Users\S&amp;P\Downloads\thank-you-image-generator-1751826290540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19440" y="690881"/>
            <a:ext cx="3484880" cy="600456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ssion 01 Design Thinking &amp; Critical Think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</TotalTime>
  <Words>571</Words>
  <Application>Microsoft Office PowerPoint</Application>
  <PresentationFormat>Custom</PresentationFormat>
  <Paragraphs>140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Session 01 Design Thinking &amp; Critical Thinking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S&amp;P</cp:lastModifiedBy>
  <cp:revision>35</cp:revision>
  <dcterms:created xsi:type="dcterms:W3CDTF">2024-12-31T09:40:01Z</dcterms:created>
  <dcterms:modified xsi:type="dcterms:W3CDTF">2025-07-06T18:29:55Z</dcterms:modified>
</cp:coreProperties>
</file>